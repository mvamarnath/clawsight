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Overlock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4D1DEAC-04C4-4310-B34C-B1A86F5A35B3}">
  <a:tblStyle styleId="{E4D1DEAC-04C4-4310-B34C-B1A86F5A35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8C668A95-63E3-47CE-9045-45A7FC8992DC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verlock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Overlock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verlock-bold.fntdata"/><Relationship Id="rId6" Type="http://schemas.openxmlformats.org/officeDocument/2006/relationships/slide" Target="slides/slide1.xml"/><Relationship Id="rId18" Type="http://schemas.openxmlformats.org/officeDocument/2006/relationships/font" Target="fonts/Overlock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f9334bd3b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df9334bd3b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df9334bd3b_0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f9334bd3b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df9334bd3b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df9334bd3b_0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hyperlink" Target="https://youtu.be/sRuWfjbZil0" TargetMode="External"/><Relationship Id="rId5" Type="http://schemas.openxmlformats.org/officeDocument/2006/relationships/hyperlink" Target="https://youtu.be/XV4S2kmJbzM" TargetMode="External"/><Relationship Id="rId6" Type="http://schemas.openxmlformats.org/officeDocument/2006/relationships/hyperlink" Target="https://youtube.com/shorts/rcv310nauWU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mvamarnath/ClawSight" TargetMode="External"/><Relationship Id="rId4" Type="http://schemas.openxmlformats.org/officeDocument/2006/relationships/hyperlink" Target="https://youtu.be/sRuWfjbZil0" TargetMode="External"/><Relationship Id="rId9" Type="http://schemas.openxmlformats.org/officeDocument/2006/relationships/hyperlink" Target="https://youtube.com/shorts/rcv310nauWU" TargetMode="External"/><Relationship Id="rId5" Type="http://schemas.openxmlformats.org/officeDocument/2006/relationships/hyperlink" Target="https://youtu.be/sRuWfjbZil0" TargetMode="External"/><Relationship Id="rId6" Type="http://schemas.openxmlformats.org/officeDocument/2006/relationships/hyperlink" Target="https://youtu.be/XV4S2kmJbzM" TargetMode="External"/><Relationship Id="rId7" Type="http://schemas.openxmlformats.org/officeDocument/2006/relationships/hyperlink" Target="https://youtu.be/XV4S2kmJbzM" TargetMode="External"/><Relationship Id="rId8" Type="http://schemas.openxmlformats.org/officeDocument/2006/relationships/hyperlink" Target="https://youtube.com/shorts/rcv310nauWU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 b="40504" l="35216" r="35722" t="9860"/>
          <a:stretch/>
        </p:blipFill>
        <p:spPr>
          <a:xfrm>
            <a:off x="7372538" y="1619794"/>
            <a:ext cx="4421349" cy="5638238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/>
          <p:nvPr/>
        </p:nvSpPr>
        <p:spPr>
          <a:xfrm>
            <a:off x="0" y="604461"/>
            <a:ext cx="218258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CLASH OF THE</a:t>
            </a:r>
            <a:endParaRPr b="1" i="0" sz="2000" u="none" cap="none" strike="noStrike">
              <a:solidFill>
                <a:srgbClr val="E81B25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1756232" y="436120"/>
            <a:ext cx="209116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600" u="none" cap="none" strike="noStrike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rPr>
              <a:t>CLAWS</a:t>
            </a:r>
            <a:endParaRPr b="0" i="0" sz="3600" u="none" cap="none" strike="noStrike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614751" y="1740250"/>
            <a:ext cx="67578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5600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rPr>
              <a:t>RVCE</a:t>
            </a:r>
            <a:r>
              <a:rPr b="1" i="0" lang="en-IN" sz="5600" u="none" cap="none" strike="noStrike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rPr>
              <a:t>_</a:t>
            </a:r>
            <a:r>
              <a:rPr b="1" i="0" lang="en-IN" sz="5600" u="none" cap="none" strike="noStrike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rPr>
              <a:t>The</a:t>
            </a:r>
            <a:r>
              <a:rPr b="1" lang="en-IN" sz="5600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rPr>
              <a:t>Edgers</a:t>
            </a:r>
            <a:endParaRPr sz="30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rPr>
              <a:t>Autonomous On-Device Intelligence Agent</a:t>
            </a:r>
            <a:endParaRPr sz="2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E81B25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400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rPr>
              <a:t>MV Amarnath, Kaushal H</a:t>
            </a:r>
            <a:br>
              <a:rPr b="1" i="0" lang="en-IN" sz="4000" u="none" cap="none" strike="noStrike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rPr>
            </a:br>
            <a:endParaRPr b="1" i="0" sz="4000" u="none" cap="none" strike="noStrike">
              <a:solidFill>
                <a:schemeClr val="dk2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grpSp>
        <p:nvGrpSpPr>
          <p:cNvPr id="93" name="Google Shape;93;p14"/>
          <p:cNvGrpSpPr/>
          <p:nvPr/>
        </p:nvGrpSpPr>
        <p:grpSpPr>
          <a:xfrm>
            <a:off x="137355" y="46746"/>
            <a:ext cx="3814159" cy="639045"/>
            <a:chOff x="137355" y="133834"/>
            <a:chExt cx="3814159" cy="639045"/>
          </a:xfrm>
        </p:grpSpPr>
        <p:pic>
          <p:nvPicPr>
            <p:cNvPr id="94" name="Google Shape;94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7355" y="133834"/>
              <a:ext cx="974396" cy="6390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" name="Google Shape;95;p14"/>
            <p:cNvSpPr txBox="1"/>
            <p:nvPr/>
          </p:nvSpPr>
          <p:spPr>
            <a:xfrm>
              <a:off x="1017814" y="244337"/>
              <a:ext cx="29337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1800" u="none" cap="none" strike="noStrike">
                  <a:solidFill>
                    <a:schemeClr val="dk1"/>
                  </a:solidFill>
                  <a:latin typeface="Overlock"/>
                  <a:ea typeface="Overlock"/>
                  <a:cs typeface="Overlock"/>
                  <a:sym typeface="Overlock"/>
                </a:rPr>
                <a:t>| Tech Management, SRI-B</a:t>
              </a:r>
              <a:endParaRPr b="1" i="0" sz="1800" u="none" cap="none" strike="noStrike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308525" y="694935"/>
            <a:ext cx="109728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4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264300" y="1548425"/>
            <a:ext cx="11663400" cy="5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700">
                <a:solidFill>
                  <a:schemeClr val="dk1"/>
                </a:solidFill>
              </a:rPr>
              <a:t>The Problem:</a:t>
            </a:r>
            <a:r>
              <a:rPr lang="en-IN" sz="1700">
                <a:solidFill>
                  <a:schemeClr val="dk1"/>
                </a:solidFill>
              </a:rPr>
              <a:t> Users today are drowning in information. Communication across WhatsApp, Telegram, Gmail, and visual context (screenshots, documents, images) goes unsorted. Important events, meetings, and tasks are scattered across notifications - hidden in the noise.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700">
                <a:solidFill>
                  <a:schemeClr val="dk1"/>
                </a:solidFill>
              </a:rPr>
              <a:t>Who Faces It: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</a:rPr>
              <a:t>Students managing multiple courses, events, and group chats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</a:rPr>
              <a:t>Professionals balancing emails, messaging apps, and calendar fragments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</a:rPr>
              <a:t>Anyone who forgets meetings because the signal was buried in noise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700">
                <a:solidFill>
                  <a:schemeClr val="dk1"/>
                </a:solidFill>
              </a:rPr>
              <a:t>Why It Matters: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b="1" lang="en-IN" sz="1700">
                <a:solidFill>
                  <a:schemeClr val="dk1"/>
                </a:solidFill>
              </a:rPr>
              <a:t>Information Overload:</a:t>
            </a:r>
            <a:r>
              <a:rPr lang="en-IN" sz="1700">
                <a:solidFill>
                  <a:schemeClr val="dk1"/>
                </a:solidFill>
              </a:rPr>
              <a:t> Hundreds of notifications daily, but no structured understanding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b="1" lang="en-IN" sz="1700">
                <a:solidFill>
                  <a:schemeClr val="dk1"/>
                </a:solidFill>
              </a:rPr>
              <a:t>Manual Triage:</a:t>
            </a:r>
            <a:r>
              <a:rPr lang="en-IN" sz="1700">
                <a:solidFill>
                  <a:schemeClr val="dk1"/>
                </a:solidFill>
              </a:rPr>
              <a:t> Users spend time manually organizing what the OS could extract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b="1" lang="en-IN" sz="1700">
                <a:solidFill>
                  <a:schemeClr val="dk1"/>
                </a:solidFill>
              </a:rPr>
              <a:t>Privacy Breach Risk:</a:t>
            </a:r>
            <a:r>
              <a:rPr lang="en-IN" sz="1700">
                <a:solidFill>
                  <a:schemeClr val="dk1"/>
                </a:solidFill>
              </a:rPr>
              <a:t> Current solutions (cloud-based AI) require uploading sensitive data (conversations, screenshots) to external servers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b="1" lang="en-IN" sz="1700">
                <a:solidFill>
                  <a:schemeClr val="dk1"/>
                </a:solidFill>
              </a:rPr>
              <a:t>Context Loss:</a:t>
            </a:r>
            <a:r>
              <a:rPr lang="en-IN" sz="1700">
                <a:solidFill>
                  <a:schemeClr val="dk1"/>
                </a:solidFill>
              </a:rPr>
              <a:t> Visual information (photos, documents) is invisible to task management systems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000">
                <a:solidFill>
                  <a:srgbClr val="FF0000"/>
                </a:solidFill>
              </a:rPr>
              <a:t>The Gap:</a:t>
            </a:r>
            <a:r>
              <a:rPr lang="en-IN" sz="2000">
                <a:solidFill>
                  <a:srgbClr val="FF0000"/>
                </a:solidFill>
              </a:rPr>
              <a:t> Existing tools don't bridge communication + visual context + private on-device intelligence.</a:t>
            </a:r>
            <a:endParaRPr sz="2000">
              <a:solidFill>
                <a:srgbClr val="FF0000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609600" y="152406"/>
            <a:ext cx="19506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609600" y="451141"/>
            <a:ext cx="9902100" cy="57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Solution &amp; Gaps</a:t>
            </a:r>
            <a:endParaRPr sz="3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740496" y="1682945"/>
            <a:ext cx="557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8" name="Google Shape;118;p16"/>
          <p:cNvGraphicFramePr/>
          <p:nvPr/>
        </p:nvGraphicFramePr>
        <p:xfrm>
          <a:off x="609600" y="108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{E4D1DEAC-04C4-4310-B34C-B1A86F5A35B3}</a:tableStyleId>
              </a:tblPr>
              <a:tblGrid>
                <a:gridCol w="3429000"/>
                <a:gridCol w="3429000"/>
                <a:gridCol w="342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500"/>
                        <a:t>Solution</a:t>
                      </a:r>
                      <a:endParaRPr b="1"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500"/>
                        <a:t>Current Solution</a:t>
                      </a:r>
                      <a:endParaRPr b="1"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500"/>
                        <a:t>Gaps</a:t>
                      </a:r>
                      <a:endParaRPr b="1" sz="15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Google Calendar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Event scheduling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Extracts events from messages, screenshots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Gmail Smart Replies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Suggests responses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Doesn't cross-correlate with other apps or visuals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Slack/Teams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Notification aggregation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No on-device AI; doesn't parse image context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chemeClr val="dk1"/>
                          </a:solidFill>
                        </a:rPr>
                        <a:t>Cloud-Based AI</a:t>
                      </a:r>
                      <a:r>
                        <a:rPr lang="en-IN" sz="1100">
                          <a:solidFill>
                            <a:schemeClr val="dk1"/>
                          </a:solidFill>
                        </a:rPr>
                        <a:t> (ChatGPT, Gemini API)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Powerful LLMs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Requires uploading private conversations &amp; photos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Android Tasks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 Task management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No auto-population from messages or images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9" name="Google Shape;119;p16"/>
          <p:cNvSpPr txBox="1"/>
          <p:nvPr/>
        </p:nvSpPr>
        <p:spPr>
          <a:xfrm>
            <a:off x="164700" y="4548950"/>
            <a:ext cx="4918200" cy="20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 Core Gaps:</a:t>
            </a:r>
            <a:endParaRPr b="1" sz="15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Calibri"/>
              <a:buChar char="●"/>
            </a:pPr>
            <a:r>
              <a:rPr b="1" lang="en-IN" sz="1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Silos:</a:t>
            </a:r>
            <a:r>
              <a:rPr lang="en-IN" sz="1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WhatsApp, Telegram, Gmail, Screenshots—all separate, with no unified intelligence layer.</a:t>
            </a:r>
            <a:endParaRPr sz="15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Calibri"/>
              <a:buChar char="●"/>
            </a:pPr>
            <a:r>
              <a:rPr b="1" lang="en-IN" sz="1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Privacy Trap:</a:t>
            </a:r>
            <a:r>
              <a:rPr lang="en-IN" sz="1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Cross-app understanding requires cloud processing, meaning data leaves the device.</a:t>
            </a:r>
            <a:endParaRPr sz="15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Calibri"/>
              <a:buChar char="●"/>
            </a:pPr>
            <a:r>
              <a:rPr b="1" lang="en-IN" sz="1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Manual Entry:</a:t>
            </a:r>
            <a:r>
              <a:rPr lang="en-IN" sz="1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Smart tools still require users to manually create calendar events and tasks.</a:t>
            </a:r>
            <a:endParaRPr sz="15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Calibri"/>
              <a:buChar char="●"/>
            </a:pPr>
            <a:r>
              <a:rPr b="1" lang="en-IN" sz="1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Visual Blindness:</a:t>
            </a:r>
            <a:r>
              <a:rPr lang="en-IN" sz="1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Text is indexed, but images are ignored.</a:t>
            </a:r>
            <a:endParaRPr sz="15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5615175" y="4731725"/>
            <a:ext cx="6423900" cy="19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 Opportunity:</a:t>
            </a:r>
            <a:endParaRPr b="1" sz="17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Calibri"/>
              <a:buChar char="●"/>
            </a:pPr>
            <a:r>
              <a:rPr lang="en-IN" sz="1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On-device LLMs (Gemma 2B) + OCR can perform these tasks privately.</a:t>
            </a:r>
            <a:endParaRPr sz="17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Calibri"/>
              <a:buChar char="●"/>
            </a:pPr>
            <a:r>
              <a:rPr lang="en-IN" sz="1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 server is required, eliminating data leakage.</a:t>
            </a:r>
            <a:endParaRPr sz="17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Calibri"/>
              <a:buChar char="●"/>
            </a:pPr>
            <a:r>
              <a:rPr lang="en-IN" sz="1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Users regain agency over their data.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191425" y="695173"/>
            <a:ext cx="109728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</a:t>
            </a:r>
            <a:r>
              <a:rPr b="1" lang="en-IN" sz="42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Solution</a:t>
            </a:r>
            <a:endParaRPr sz="4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301075" y="1682950"/>
            <a:ext cx="6339600" cy="55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</a:rPr>
              <a:t>What We Built:</a:t>
            </a:r>
            <a:r>
              <a:rPr lang="en-IN" sz="1600">
                <a:solidFill>
                  <a:schemeClr val="dk1"/>
                </a:solidFill>
              </a:rPr>
              <a:t> ClawSight is a </a:t>
            </a:r>
            <a:r>
              <a:rPr b="1" lang="en-IN" sz="1600">
                <a:solidFill>
                  <a:schemeClr val="dk1"/>
                </a:solidFill>
              </a:rPr>
              <a:t>privacy-first, autonomous background agent</a:t>
            </a:r>
            <a:r>
              <a:rPr lang="en-IN" sz="1600">
                <a:solidFill>
                  <a:schemeClr val="dk1"/>
                </a:solidFill>
              </a:rPr>
              <a:t> that runs 24/7 on Android. It monitors your communication and visual context, extracts structured intelligence, and automatically populates your calendar and tasks—all without leaving your device.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</a:rPr>
              <a:t>Core Idea: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-IN" sz="1600">
                <a:solidFill>
                  <a:schemeClr val="dk1"/>
                </a:solidFill>
              </a:rPr>
              <a:t>Sensors:</a:t>
            </a:r>
            <a:r>
              <a:rPr lang="en-IN" sz="1600">
                <a:solidFill>
                  <a:schemeClr val="dk1"/>
                </a:solidFill>
              </a:rPr>
              <a:t> Listen to notifications (WhatsApp, Telegram, Gmail) and watch for new images (screenshots, downloads, camera)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-IN" sz="1600">
                <a:solidFill>
                  <a:schemeClr val="dk1"/>
                </a:solidFill>
              </a:rPr>
              <a:t>Safety Layer:</a:t>
            </a:r>
            <a:r>
              <a:rPr lang="en-IN" sz="1600">
                <a:solidFill>
                  <a:schemeClr val="dk1"/>
                </a:solidFill>
              </a:rPr>
              <a:t> Instantly save raw data to local database (no data lost if process crashes); redact PII before AI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-IN" sz="1600">
                <a:solidFill>
                  <a:schemeClr val="dk1"/>
                </a:solidFill>
              </a:rPr>
              <a:t>Brain:</a:t>
            </a:r>
            <a:r>
              <a:rPr lang="en-IN" sz="1600">
                <a:solidFill>
                  <a:schemeClr val="dk1"/>
                </a:solidFill>
              </a:rPr>
              <a:t> Gemma 2B (int4) LLM + MediaPipe Tasks-GenAI classifies intent, summarizes, extracts action items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-IN" sz="1600">
                <a:solidFill>
                  <a:schemeClr val="dk1"/>
                </a:solidFill>
              </a:rPr>
              <a:t>Action Router:</a:t>
            </a:r>
            <a:r>
              <a:rPr lang="en-IN" sz="1600">
                <a:solidFill>
                  <a:schemeClr val="dk1"/>
                </a:solidFill>
              </a:rPr>
              <a:t> Automatically creates calendar events, adds tasks, updates knowledge base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-IN" sz="1600">
                <a:solidFill>
                  <a:schemeClr val="dk1"/>
                </a:solidFill>
              </a:rPr>
              <a:t>Chat Interface:</a:t>
            </a:r>
            <a:r>
              <a:rPr lang="en-IN" sz="1600">
                <a:solidFill>
                  <a:schemeClr val="dk1"/>
                </a:solidFill>
              </a:rPr>
              <a:t> Ask ClawSight anything—it retrieves from its local knowledge base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6891450" y="1078825"/>
            <a:ext cx="4650000" cy="51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700">
                <a:solidFill>
                  <a:schemeClr val="dk1"/>
                </a:solidFill>
              </a:rPr>
              <a:t>Key Features: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IN" sz="1700">
                <a:solidFill>
                  <a:schemeClr val="dk1"/>
                </a:solidFill>
              </a:rPr>
              <a:t>100% On-Device:</a:t>
            </a:r>
            <a:r>
              <a:rPr lang="en-IN" sz="1700">
                <a:solidFill>
                  <a:schemeClr val="dk1"/>
                </a:solidFill>
              </a:rPr>
              <a:t> Gemma 2B + ML Kit OCR. No cloud, no data leakage.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IN" sz="1700">
                <a:solidFill>
                  <a:schemeClr val="dk1"/>
                </a:solidFill>
              </a:rPr>
              <a:t>Cross-App Context:</a:t>
            </a:r>
            <a:r>
              <a:rPr lang="en-IN" sz="1700">
                <a:solidFill>
                  <a:schemeClr val="dk1"/>
                </a:solidFill>
              </a:rPr>
              <a:t> WhatsApp → Screenshot → Gmail correlated in a single knowledge base.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</a:rPr>
              <a:t> </a:t>
            </a:r>
            <a:r>
              <a:rPr b="1" lang="en-IN" sz="1700">
                <a:solidFill>
                  <a:schemeClr val="dk1"/>
                </a:solidFill>
              </a:rPr>
              <a:t>PII-Safe Pipeline:</a:t>
            </a:r>
            <a:r>
              <a:rPr lang="en-IN" sz="1700">
                <a:solidFill>
                  <a:schemeClr val="dk1"/>
                </a:solidFill>
              </a:rPr>
              <a:t> Regex + spaCy NER scrubs sensitive data </a:t>
            </a:r>
            <a:r>
              <a:rPr i="1" lang="en-IN" sz="1700">
                <a:solidFill>
                  <a:schemeClr val="dk1"/>
                </a:solidFill>
              </a:rPr>
              <a:t>before</a:t>
            </a:r>
            <a:r>
              <a:rPr lang="en-IN" sz="1700">
                <a:solidFill>
                  <a:schemeClr val="dk1"/>
                </a:solidFill>
              </a:rPr>
              <a:t> AI sees it.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IN" sz="1700">
                <a:solidFill>
                  <a:schemeClr val="dk1"/>
                </a:solidFill>
              </a:rPr>
              <a:t>Real-Time Processing:</a:t>
            </a:r>
            <a:r>
              <a:rPr lang="en-IN" sz="1700">
                <a:solidFill>
                  <a:schemeClr val="dk1"/>
                </a:solidFill>
              </a:rPr>
              <a:t> Kotlin Coroutines + Room DB ensure 0 data loss &amp; smooth UI.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</a:rPr>
              <a:t> </a:t>
            </a:r>
            <a:r>
              <a:rPr b="1" lang="en-IN" sz="1700">
                <a:solidFill>
                  <a:schemeClr val="dk1"/>
                </a:solidFill>
              </a:rPr>
              <a:t>Android Native:</a:t>
            </a:r>
            <a:r>
              <a:rPr lang="en-IN" sz="1700">
                <a:solidFill>
                  <a:schemeClr val="dk1"/>
                </a:solidFill>
              </a:rPr>
              <a:t> Jetpack ViewModel, Lifecycle, ContentObserver—built for the OS, not against it.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IN" sz="1700">
                <a:solidFill>
                  <a:schemeClr val="dk1"/>
                </a:solidFill>
              </a:rPr>
              <a:t>Autonomous Actions:</a:t>
            </a:r>
            <a:r>
              <a:rPr lang="en-IN" sz="1700">
                <a:solidFill>
                  <a:schemeClr val="dk1"/>
                </a:solidFill>
              </a:rPr>
              <a:t> Auto-create events, tasks, populate knowledge base without user input.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609613" y="172931"/>
            <a:ext cx="1950600" cy="341400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597438" y="189006"/>
            <a:ext cx="19506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459050" y="313898"/>
            <a:ext cx="109728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Demo/Product Walkthrough</a:t>
            </a:r>
            <a:endParaRPr sz="3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5852160" y="1395928"/>
            <a:ext cx="51207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83550" y="1052775"/>
            <a:ext cx="8405400" cy="6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500">
                <a:solidFill>
                  <a:schemeClr val="dk1"/>
                </a:solidFill>
              </a:rPr>
              <a:t>User Journey: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500"/>
              <a:buAutoNum type="arabicPeriod"/>
            </a:pPr>
            <a:r>
              <a:rPr b="1" lang="en-IN" sz="1500">
                <a:solidFill>
                  <a:srgbClr val="FF0000"/>
                </a:solidFill>
              </a:rPr>
              <a:t>Passive Listening Phase</a:t>
            </a:r>
            <a:endParaRPr b="1" sz="1500">
              <a:solidFill>
                <a:srgbClr val="FF0000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IN" sz="1500">
                <a:solidFill>
                  <a:schemeClr val="dk1"/>
                </a:solidFill>
              </a:rPr>
              <a:t>User receives a WhatsApp: "Team standup tmrw 10 AM at Conference Room B"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IN" sz="1500">
                <a:solidFill>
                  <a:schemeClr val="dk1"/>
                </a:solidFill>
              </a:rPr>
              <a:t>App detects notification → extracts text → redacts phone numbers → sends to Gemma 2B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-IN" sz="1500">
                <a:solidFill>
                  <a:schemeClr val="dk1"/>
                </a:solidFill>
              </a:rPr>
              <a:t>Result: Creates  calendar event "Team standup" at 2025-05-09 10:00 AM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AutoNum type="arabicPeriod"/>
            </a:pPr>
            <a:r>
              <a:rPr b="1" lang="en-IN" sz="1500">
                <a:solidFill>
                  <a:srgbClr val="FF0000"/>
                </a:solidFill>
              </a:rPr>
              <a:t>Visual Context Phase</a:t>
            </a:r>
            <a:endParaRPr b="1" sz="1500">
              <a:solidFill>
                <a:srgbClr val="FF0000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IN" sz="1500">
                <a:solidFill>
                  <a:schemeClr val="dk1"/>
                </a:solidFill>
              </a:rPr>
              <a:t>User takes a screenshot of a syllabus: "Assignment 4 due Friday, 11:59 PM"</a:t>
            </a:r>
            <a:endParaRPr sz="17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IN" sz="1500">
                <a:solidFill>
                  <a:schemeClr val="dk1"/>
                </a:solidFill>
              </a:rPr>
              <a:t>App detects new image → OCR extracts text → PII check → sends to Gemma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-IN" sz="1500">
                <a:solidFill>
                  <a:schemeClr val="dk1"/>
                </a:solidFill>
              </a:rPr>
              <a:t>Result: Auto-creates task "Complete Assignment 4" with due date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AutoNum type="arabicPeriod"/>
            </a:pPr>
            <a:r>
              <a:rPr b="1" lang="en-IN" sz="1500">
                <a:solidFill>
                  <a:srgbClr val="FF0000"/>
                </a:solidFill>
              </a:rPr>
              <a:t>Query Phase</a:t>
            </a:r>
            <a:endParaRPr b="1" sz="1500">
              <a:solidFill>
                <a:srgbClr val="FF0000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IN" sz="1500">
                <a:solidFill>
                  <a:schemeClr val="dk1"/>
                </a:solidFill>
              </a:rPr>
              <a:t>User opens chat interface: "What meetings do I have this week?"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IN" sz="1500">
                <a:solidFill>
                  <a:schemeClr val="dk1"/>
                </a:solidFill>
              </a:rPr>
              <a:t>App searches local knowledge base</a:t>
            </a:r>
            <a:r>
              <a:rPr lang="en-IN" sz="1500">
                <a:solidFill>
                  <a:schemeClr val="dk1"/>
                </a:solidFill>
              </a:rPr>
              <a:t> (ChromaDB) </a:t>
            </a:r>
            <a:r>
              <a:rPr lang="en-IN" sz="1500">
                <a:solidFill>
                  <a:schemeClr val="dk1"/>
                </a:solidFill>
              </a:rPr>
              <a:t>for events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-IN" sz="1500">
                <a:solidFill>
                  <a:schemeClr val="dk1"/>
                </a:solidFill>
              </a:rPr>
              <a:t>Returns: "Team standup (Thursday 10 AM), 1:1 with Prof (Friday 2 PM), Lab review (Saturday 4 PM)"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AutoNum type="arabicPeriod"/>
            </a:pPr>
            <a:r>
              <a:rPr b="1" lang="en-IN" sz="1500">
                <a:solidFill>
                  <a:srgbClr val="FF0000"/>
                </a:solidFill>
              </a:rPr>
              <a:t>Cross-App Correlation</a:t>
            </a:r>
            <a:endParaRPr b="1" sz="1500">
              <a:solidFill>
                <a:srgbClr val="FF0000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IN" sz="1500">
                <a:solidFill>
                  <a:schemeClr val="dk1"/>
                </a:solidFill>
              </a:rPr>
              <a:t>User receives Gmail: "Your lab demo code is here: [GitHub link]"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IN" sz="1500">
                <a:solidFill>
                  <a:schemeClr val="dk1"/>
                </a:solidFill>
              </a:rPr>
              <a:t>User screenshots the link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IN" sz="1500">
                <a:solidFill>
                  <a:schemeClr val="dk1"/>
                </a:solidFill>
              </a:rPr>
              <a:t>App correlates: "Lab review scheduled Saturday 4 PM" + "Lab demo code available"  one unified context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IN" sz="1500">
                <a:solidFill>
                  <a:schemeClr val="dk1"/>
                </a:solidFill>
              </a:rPr>
              <a:t>Chat retrieval : "Prepare demo code for Saturday's lab review" 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6670071" y="4145654"/>
            <a:ext cx="276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/>
          <p:nvPr/>
        </p:nvSpPr>
        <p:spPr>
          <a:xfrm>
            <a:off x="0" y="0"/>
            <a:ext cx="12192000" cy="852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609613" y="172931"/>
            <a:ext cx="1950600" cy="341400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9"/>
          <p:cNvSpPr/>
          <p:nvPr/>
        </p:nvSpPr>
        <p:spPr>
          <a:xfrm>
            <a:off x="597438" y="189006"/>
            <a:ext cx="19506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459050" y="313898"/>
            <a:ext cx="109728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Demo/Product Walkthrough</a:t>
            </a:r>
            <a:endParaRPr sz="3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5852160" y="1395928"/>
            <a:ext cx="51207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83550" y="1052775"/>
            <a:ext cx="8405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6670071" y="4145654"/>
            <a:ext cx="276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675" y="1052775"/>
            <a:ext cx="11678649" cy="333267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434475" y="4612100"/>
            <a:ext cx="4328100" cy="17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500">
                <a:solidFill>
                  <a:srgbClr val="FF0000"/>
                </a:solidFill>
              </a:rPr>
              <a:t>Key Moments (Differentiators):</a:t>
            </a:r>
            <a:endParaRPr b="1" sz="1500">
              <a:solidFill>
                <a:srgbClr val="FF000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500"/>
              <a:buChar char="●"/>
            </a:pPr>
            <a:r>
              <a:rPr lang="en-IN" sz="1500">
                <a:solidFill>
                  <a:srgbClr val="FF0000"/>
                </a:solidFill>
              </a:rPr>
              <a:t>Background processing ≠ draining battery (efficient model size)</a:t>
            </a:r>
            <a:endParaRPr sz="1500">
              <a:solidFill>
                <a:srgbClr val="FF000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Char char="●"/>
            </a:pPr>
            <a:r>
              <a:rPr lang="en-IN" sz="1500">
                <a:solidFill>
                  <a:srgbClr val="FF0000"/>
                </a:solidFill>
              </a:rPr>
              <a:t>Notification listening doesn't mean reading. Intent classification happens locally.</a:t>
            </a:r>
            <a:endParaRPr sz="1500">
              <a:solidFill>
                <a:srgbClr val="FF000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Char char="●"/>
            </a:pPr>
            <a:r>
              <a:rPr lang="en-IN" sz="1500">
                <a:solidFill>
                  <a:srgbClr val="FF0000"/>
                </a:solidFill>
              </a:rPr>
              <a:t>Events, tasks, knowledge-all auto-populated.</a:t>
            </a:r>
            <a:endParaRPr sz="15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5330525" y="4500075"/>
            <a:ext cx="6604800" cy="21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</a:rPr>
              <a:t>Live Demo References: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 u="sng">
                <a:solidFill>
                  <a:schemeClr val="hlink"/>
                </a:solidFill>
                <a:hlinkClick r:id="rId4"/>
              </a:rPr>
              <a:t>Code Walkthrough</a:t>
            </a:r>
            <a:r>
              <a:rPr lang="en-IN" sz="1600">
                <a:solidFill>
                  <a:schemeClr val="dk1"/>
                </a:solidFill>
              </a:rPr>
              <a:t> — Architecture + Python notebook explanation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 u="sng">
                <a:solidFill>
                  <a:schemeClr val="hlink"/>
                </a:solidFill>
                <a:hlinkClick r:id="rId5"/>
              </a:rPr>
              <a:t>Phone Demo Video</a:t>
            </a:r>
            <a:r>
              <a:rPr lang="en-IN" sz="1600">
                <a:solidFill>
                  <a:schemeClr val="dk1"/>
                </a:solidFill>
              </a:rPr>
              <a:t> — See the app running end-to-end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 u="sng">
                <a:solidFill>
                  <a:schemeClr val="hlink"/>
                </a:solidFill>
                <a:hlinkClick r:id="rId6"/>
              </a:rPr>
              <a:t>Chat Interface Short</a:t>
            </a:r>
            <a:r>
              <a:rPr lang="en-IN" sz="1600">
                <a:solidFill>
                  <a:schemeClr val="dk1"/>
                </a:solidFill>
              </a:rPr>
              <a:t> — Watch the chatbot answer questions based on captured images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rgbClr val="FF0000"/>
                </a:solidFill>
              </a:rPr>
              <a:t>[Recommended to watch in the same sequence for better understanding]</a:t>
            </a:r>
            <a:endParaRPr sz="15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0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0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292100" y="560835"/>
            <a:ext cx="109728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5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 &amp; Architecture</a:t>
            </a:r>
            <a:endParaRPr sz="35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740496" y="1682945"/>
            <a:ext cx="557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71" name="Google Shape;171;p20"/>
          <p:cNvGraphicFramePr/>
          <p:nvPr/>
        </p:nvGraphicFramePr>
        <p:xfrm>
          <a:off x="175125" y="139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{8C668A95-63E3-47CE-9045-45A7FC8992DC}</a:tableStyleId>
              </a:tblPr>
              <a:tblGrid>
                <a:gridCol w="828675"/>
                <a:gridCol w="3038475"/>
                <a:gridCol w="36576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rgbClr val="FF0000"/>
                          </a:solidFill>
                        </a:rPr>
                        <a:t>Layer</a:t>
                      </a:r>
                      <a:endParaRPr b="1" sz="12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rgbClr val="FF0000"/>
                          </a:solidFill>
                        </a:rPr>
                        <a:t>Component</a:t>
                      </a:r>
                      <a:endParaRPr b="1" sz="12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rgbClr val="FF0000"/>
                          </a:solidFill>
                        </a:rPr>
                        <a:t>Role</a:t>
                      </a:r>
                      <a:endParaRPr b="1" sz="12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FF0000"/>
                          </a:solidFill>
                        </a:rPr>
                        <a:t>AI Brain</a:t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Gemma 2B IT (int4) via MediaPipe Tasks-GenAI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Text classification, summarization, action extraction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FF0000"/>
                          </a:solidFill>
                        </a:rPr>
                        <a:t>Vision</a:t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Google ML Kit (Text Recognition)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On-device OCR; processes screenshots, images, documents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FF0000"/>
                          </a:solidFill>
                        </a:rPr>
                        <a:t>Memory</a:t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Room Persistence Library (SQLite)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Stores captured events, tasks, knowledge base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FF0000"/>
                          </a:solidFill>
                        </a:rPr>
                        <a:t>Processing</a:t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Kotlin Coroutines + Channels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Sequential background processing; keeps UI responsive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FF0000"/>
                          </a:solidFill>
                        </a:rPr>
                        <a:t>Lifecycle</a:t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Android Jetpack (ViewModel, Lifecycle)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Survives app kills; manages background agent state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FF0000"/>
                          </a:solidFill>
                        </a:rPr>
                        <a:t>Listeners</a:t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NotificationListenerService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Monitors WhatsApp, Telegram, Gmail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FF0000"/>
                          </a:solidFill>
                        </a:rPr>
                        <a:t>Watchers</a:t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ContentObserver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Detects new images (MediaStore)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FF0000"/>
                          </a:solidFill>
                        </a:rPr>
                        <a:t>Vector DB</a:t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ChromaDB (Python)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Local knowledge base; enables semantic search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FF0000"/>
                          </a:solidFill>
                        </a:rPr>
                        <a:t>IDE / Debug</a:t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Android Studio, Logcat, ADB, Device Explorer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Development &amp; real-time monitoring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2" name="Google Shape;172;p20"/>
          <p:cNvSpPr txBox="1"/>
          <p:nvPr/>
        </p:nvSpPr>
        <p:spPr>
          <a:xfrm>
            <a:off x="7904075" y="1370275"/>
            <a:ext cx="4144200" cy="25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300">
                <a:solidFill>
                  <a:srgbClr val="FF0000"/>
                </a:solidFill>
              </a:rPr>
              <a:t>System Constraints &amp; Solutions:</a:t>
            </a:r>
            <a:endParaRPr b="1" sz="1300">
              <a:solidFill>
                <a:srgbClr val="FF0000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300"/>
              <a:buChar char="●"/>
            </a:pPr>
            <a:r>
              <a:rPr b="1" lang="en-IN" sz="1300">
                <a:solidFill>
                  <a:srgbClr val="FF0000"/>
                </a:solidFill>
              </a:rPr>
              <a:t>Model Size:</a:t>
            </a:r>
            <a:r>
              <a:rPr lang="en-IN" sz="1300">
                <a:solidFill>
                  <a:srgbClr val="FF0000"/>
                </a:solidFill>
              </a:rPr>
              <a:t> 1.25 GB Gemma 2B (int4 quantized) fits on mobile; transferred via ADB/Device Explorer</a:t>
            </a:r>
            <a:endParaRPr sz="1300">
              <a:solidFill>
                <a:srgbClr val="FF0000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00"/>
              <a:buChar char="●"/>
            </a:pPr>
            <a:r>
              <a:rPr b="1" lang="en-IN" sz="1300">
                <a:solidFill>
                  <a:srgbClr val="FF0000"/>
                </a:solidFill>
              </a:rPr>
              <a:t>Memory:</a:t>
            </a:r>
            <a:r>
              <a:rPr lang="en-IN" sz="1300">
                <a:solidFill>
                  <a:srgbClr val="FF0000"/>
                </a:solidFill>
              </a:rPr>
              <a:t> Queue-based processing (Kotlin Channels) prevents OOM crashes</a:t>
            </a:r>
            <a:endParaRPr sz="1300">
              <a:solidFill>
                <a:srgbClr val="FF0000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00"/>
              <a:buChar char="●"/>
            </a:pPr>
            <a:r>
              <a:rPr b="1" lang="en-IN" sz="1300">
                <a:solidFill>
                  <a:srgbClr val="FF0000"/>
                </a:solidFill>
              </a:rPr>
              <a:t>Privacy:</a:t>
            </a:r>
            <a:r>
              <a:rPr lang="en-IN" sz="1300">
                <a:solidFill>
                  <a:srgbClr val="FF0000"/>
                </a:solidFill>
              </a:rPr>
              <a:t> PII scrubbing </a:t>
            </a:r>
            <a:r>
              <a:rPr i="1" lang="en-IN" sz="1300">
                <a:solidFill>
                  <a:srgbClr val="FF0000"/>
                </a:solidFill>
              </a:rPr>
              <a:t>before</a:t>
            </a:r>
            <a:r>
              <a:rPr lang="en-IN" sz="1300">
                <a:solidFill>
                  <a:srgbClr val="FF0000"/>
                </a:solidFill>
              </a:rPr>
              <a:t> AI; no network calls</a:t>
            </a:r>
            <a:endParaRPr sz="1300">
              <a:solidFill>
                <a:srgbClr val="FF0000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00"/>
              <a:buChar char="●"/>
            </a:pPr>
            <a:r>
              <a:rPr b="1" lang="en-IN" sz="1300">
                <a:solidFill>
                  <a:srgbClr val="FF0000"/>
                </a:solidFill>
              </a:rPr>
              <a:t>Latency:</a:t>
            </a:r>
            <a:r>
              <a:rPr lang="en-IN" sz="1300">
                <a:solidFill>
                  <a:srgbClr val="FF0000"/>
                </a:solidFill>
              </a:rPr>
              <a:t> Parallel univariate pipelines (WhatsApp thread ≠ image thread); asynchronous Room writes</a:t>
            </a:r>
            <a:endParaRPr sz="13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217225" y="408760"/>
            <a:ext cx="109728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 &amp; Use cases</a:t>
            </a:r>
            <a:endParaRPr sz="2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100250" y="1119600"/>
            <a:ext cx="11664000" cy="6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>
                <a:solidFill>
                  <a:srgbClr val="FF0000"/>
                </a:solidFill>
              </a:rPr>
              <a:t>Real-Life Scenario 1: Student (Multi-Course Chaos)</a:t>
            </a:r>
            <a:endParaRPr b="1">
              <a:solidFill>
                <a:srgbClr val="FF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</a:rPr>
              <a:t>Receives: WhatsApp (Lab due Friday), Screenshot (Quiz released), Email (Exam date change)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</a:rPr>
              <a:t>Old Way: Manually checks each app, manually updates calendar → 5 minutes, error-prone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●"/>
            </a:pPr>
            <a:r>
              <a:rPr lang="en-IN">
                <a:solidFill>
                  <a:srgbClr val="FF0000"/>
                </a:solidFill>
              </a:rPr>
              <a:t>ClawSight Way: All 3 auto-populate calendar + tasks in real-time → Reduced  manual work, zero forgotten deadlines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>
                <a:solidFill>
                  <a:srgbClr val="FF0000"/>
                </a:solidFill>
              </a:rPr>
              <a:t>Real-Life Scenario 2: Professional (Scattered Context)</a:t>
            </a:r>
            <a:endParaRPr b="1">
              <a:solidFill>
                <a:srgbClr val="FF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</a:rPr>
              <a:t>Meeting invite in Gmail; teammate Slack msg with "Slides: [drive link]"; receives screenshot of updated agenda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</a:rPr>
              <a:t>Old Way: Find email, check Slack, download files, update notes manually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●"/>
            </a:pPr>
            <a:r>
              <a:rPr lang="en-IN">
                <a:solidFill>
                  <a:srgbClr val="FF0000"/>
                </a:solidFill>
              </a:rPr>
              <a:t>ClawSight Way: App correlates all three → Calendar event auto-updated with attached agenda + link + context; chat retrieval returns everything in one query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>
                <a:solidFill>
                  <a:srgbClr val="FF0000"/>
                </a:solidFill>
              </a:rPr>
              <a:t>Real-Life Scenario 3: Researcher (Document + Communication)</a:t>
            </a:r>
            <a:endParaRPr b="1">
              <a:solidFill>
                <a:srgbClr val="FF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</a:rPr>
              <a:t>Receives paper link via email + Discord discussion thread + screenshot of key equation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</a:rPr>
              <a:t>Old Way: Manual note-taking, cross-referencing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●"/>
            </a:pPr>
            <a:r>
              <a:rPr lang="en-IN">
                <a:solidFill>
                  <a:srgbClr val="FF0000"/>
                </a:solidFill>
              </a:rPr>
              <a:t>ClawSight Way: OCR extracts equation, app correlates with paper link + discussion → knowledge base has complete context; chat: "What's the main equation from that paper?" → instant answer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>
                <a:solidFill>
                  <a:srgbClr val="FF0000"/>
                </a:solidFill>
              </a:rPr>
              <a:t>Scenario 4: Event Coordinator (Confirmation Overload)</a:t>
            </a:r>
            <a:endParaRPr b="1">
              <a:solidFill>
                <a:srgbClr val="FF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</a:rPr>
              <a:t>Receives 50+ confirmations/cancellations across WhatsApp, Telegram, Email, plus photos of venue setup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</a:rPr>
              <a:t>Old Way: Manually aggregate responses, track RSVPs, extract venue details from photos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●"/>
            </a:pPr>
            <a:r>
              <a:rPr lang="en-IN">
                <a:solidFill>
                  <a:srgbClr val="FF0000"/>
                </a:solidFill>
              </a:rPr>
              <a:t>ClawSight Way: App auto-extracts "CONFIRMED/CANCELLED", aggregates in knowledge base, OCR reads venue photos → one unified headcount + logistics view</a:t>
            </a:r>
            <a:endParaRPr>
              <a:solidFill>
                <a:srgbClr val="FF0000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/>
          <p:nvPr/>
        </p:nvSpPr>
        <p:spPr>
          <a:xfrm>
            <a:off x="0" y="0"/>
            <a:ext cx="12192000" cy="852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2"/>
          <p:cNvSpPr/>
          <p:nvPr/>
        </p:nvSpPr>
        <p:spPr>
          <a:xfrm>
            <a:off x="609600" y="219456"/>
            <a:ext cx="1950600" cy="341400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2"/>
          <p:cNvSpPr/>
          <p:nvPr/>
        </p:nvSpPr>
        <p:spPr>
          <a:xfrm>
            <a:off x="609600" y="219456"/>
            <a:ext cx="19506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5852160" y="1395928"/>
            <a:ext cx="51207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2"/>
          <p:cNvSpPr txBox="1"/>
          <p:nvPr/>
        </p:nvSpPr>
        <p:spPr>
          <a:xfrm>
            <a:off x="609600" y="770627"/>
            <a:ext cx="12091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900">
                <a:solidFill>
                  <a:srgbClr val="E81B25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endParaRPr b="1" sz="2900">
              <a:solidFill>
                <a:srgbClr val="E81B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4" name="Google Shape;194;p22"/>
          <p:cNvGraphicFramePr/>
          <p:nvPr/>
        </p:nvGraphicFramePr>
        <p:xfrm>
          <a:off x="529100" y="151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{8C668A95-63E3-47CE-9045-45A7FC8992DC}</a:tableStyleId>
              </a:tblPr>
              <a:tblGrid>
                <a:gridCol w="1790000"/>
                <a:gridCol w="1342125"/>
                <a:gridCol w="3722650"/>
                <a:gridCol w="41905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Use Case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Users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Impact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Next Phase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Students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900"/>
                        <a:t>1M+ Indian colleges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900"/>
                        <a:t>Eliminate missed deadlines; improve GPA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900"/>
                        <a:t>Device-to-device sync (peer calendars)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Professionals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900"/>
                        <a:t>2M+ India + diaspora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900"/>
                        <a:t>5+ hours/week saved on admin; fewer meeting mishaps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900"/>
                        <a:t>Enterprise version with encrypted cloud backup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Research Teams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900"/>
                        <a:t>100K+ globally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900"/>
                        <a:t>Accelerate literature review + experiment tracking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900"/>
                        <a:t>Multi-agent collaboration (share insights with team on-device)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Events/HR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900"/>
                        <a:t>10K+ companies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900"/>
                        <a:t>Real-time headcount, vendor confirmations, logistics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900"/>
                        <a:t>Webhook export to event management platforms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3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3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0" y="361210"/>
            <a:ext cx="109728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7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Differentiation</a:t>
            </a:r>
            <a:endParaRPr sz="37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7071310" y="3869078"/>
            <a:ext cx="51207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3"/>
          <p:cNvSpPr txBox="1"/>
          <p:nvPr/>
        </p:nvSpPr>
        <p:spPr>
          <a:xfrm>
            <a:off x="0" y="1095100"/>
            <a:ext cx="7923000" cy="59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500">
                <a:solidFill>
                  <a:srgbClr val="FF0000"/>
                </a:solidFill>
              </a:rPr>
              <a:t>Why ClawSight Stands Out:</a:t>
            </a:r>
            <a:endParaRPr b="1" sz="15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500">
                <a:solidFill>
                  <a:srgbClr val="FF0000"/>
                </a:solidFill>
              </a:rPr>
              <a:t>Moat 1: Privacy-First Architecture</a:t>
            </a:r>
            <a:endParaRPr b="1" sz="1500">
              <a:solidFill>
                <a:srgbClr val="FF000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IN" sz="1500">
                <a:solidFill>
                  <a:schemeClr val="dk1"/>
                </a:solidFill>
              </a:rPr>
              <a:t>Claim:</a:t>
            </a:r>
            <a:r>
              <a:rPr lang="en-IN" sz="1500">
                <a:solidFill>
                  <a:schemeClr val="dk1"/>
                </a:solidFill>
              </a:rPr>
              <a:t> 100% on-device intelligence. No cloud dependency. No data leakage.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IN" sz="1500">
                <a:solidFill>
                  <a:schemeClr val="dk1"/>
                </a:solidFill>
              </a:rPr>
              <a:t>Why It Matters:</a:t>
            </a:r>
            <a:r>
              <a:rPr lang="en-IN" sz="1500">
                <a:solidFill>
                  <a:schemeClr val="dk1"/>
                </a:solidFill>
              </a:rPr>
              <a:t> Every competing solution (Google Assistant, ChatGPT, Siri) requires cloud. Privacy-conscious users (students, researchers, enterprises) will choose local.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IN" sz="1500">
                <a:solidFill>
                  <a:schemeClr val="dk1"/>
                </a:solidFill>
              </a:rPr>
              <a:t>Sustainability:</a:t>
            </a:r>
            <a:r>
              <a:rPr lang="en-IN" sz="1500">
                <a:solidFill>
                  <a:schemeClr val="dk1"/>
                </a:solidFill>
              </a:rPr>
              <a:t> As privacy regulation (GDPR, India's data laws) tightens, on-device becomes compliance advantage, not feature.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IN" sz="1500">
                <a:solidFill>
                  <a:schemeClr val="dk1"/>
                </a:solidFill>
              </a:rPr>
              <a:t>Lock-In:</a:t>
            </a:r>
            <a:r>
              <a:rPr lang="en-IN" sz="1500">
                <a:solidFill>
                  <a:schemeClr val="dk1"/>
                </a:solidFill>
              </a:rPr>
              <a:t> Once users trust their data stays local, switching to cloud-based competitor = regression.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500">
                <a:solidFill>
                  <a:srgbClr val="FF0000"/>
                </a:solidFill>
              </a:rPr>
              <a:t>Moat 2: Cross-App Unified Context</a:t>
            </a:r>
            <a:endParaRPr b="1" sz="1500">
              <a:solidFill>
                <a:srgbClr val="FF000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IN" sz="1500">
                <a:solidFill>
                  <a:schemeClr val="dk1"/>
                </a:solidFill>
              </a:rPr>
              <a:t>Claim:</a:t>
            </a:r>
            <a:r>
              <a:rPr lang="en-IN" sz="1500">
                <a:solidFill>
                  <a:schemeClr val="dk1"/>
                </a:solidFill>
              </a:rPr>
              <a:t> Only solution that correlates WhatsApp + Telegram + Gmail + Screenshots + Camera in ONE knowledge base.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IN" sz="1500">
                <a:solidFill>
                  <a:schemeClr val="dk1"/>
                </a:solidFill>
              </a:rPr>
              <a:t>Why It Matters:</a:t>
            </a:r>
            <a:r>
              <a:rPr lang="en-IN" sz="1500">
                <a:solidFill>
                  <a:schemeClr val="dk1"/>
                </a:solidFill>
              </a:rPr>
              <a:t> Notifications are siloed; their context is not. ClawSight is the first to break silos locally.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IN" sz="1500">
                <a:solidFill>
                  <a:schemeClr val="dk1"/>
                </a:solidFill>
              </a:rPr>
              <a:t>Competitors Can't Match:</a:t>
            </a:r>
            <a:r>
              <a:rPr lang="en-IN" sz="1500">
                <a:solidFill>
                  <a:schemeClr val="dk1"/>
                </a:solidFill>
              </a:rPr>
              <a:t> Cloud solutions (Google, Microsoft) can't correlate without uploading private data. On-device means smaller model + harder to implement.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Char char="●"/>
            </a:pPr>
            <a:r>
              <a:rPr b="1" lang="en-IN" sz="1500">
                <a:solidFill>
                  <a:srgbClr val="FF0000"/>
                </a:solidFill>
              </a:rPr>
              <a:t>Example:</a:t>
            </a:r>
            <a:r>
              <a:rPr lang="en-IN" sz="1500">
                <a:solidFill>
                  <a:srgbClr val="FF0000"/>
                </a:solidFill>
              </a:rPr>
              <a:t> "Show me all mentions of the lab project" returns Telegram thread + Email attachment + Screenshot of code + Chat discussion. No other app does this.</a:t>
            </a:r>
            <a:endParaRPr sz="1500">
              <a:solidFill>
                <a:srgbClr val="FF0000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3"/>
          <p:cNvSpPr txBox="1"/>
          <p:nvPr/>
        </p:nvSpPr>
        <p:spPr>
          <a:xfrm>
            <a:off x="8238275" y="1490550"/>
            <a:ext cx="3743100" cy="3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500">
                <a:solidFill>
                  <a:srgbClr val="FF0000"/>
                </a:solidFill>
              </a:rPr>
              <a:t>Supporting Differentiators:</a:t>
            </a:r>
            <a:endParaRPr b="1" sz="1500">
              <a:solidFill>
                <a:srgbClr val="FF000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IN" sz="1500">
                <a:solidFill>
                  <a:schemeClr val="dk1"/>
                </a:solidFill>
              </a:rPr>
              <a:t>Model Choice:</a:t>
            </a:r>
            <a:r>
              <a:rPr lang="en-IN" sz="1500">
                <a:solidFill>
                  <a:schemeClr val="dk1"/>
                </a:solidFill>
              </a:rPr>
              <a:t> Gemma 2B (int4) is the only open model small enough for mobile + accurate for classification. Competitors using larger closed models = dependency on cloud or device too slow.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IN" sz="1500">
                <a:solidFill>
                  <a:schemeClr val="dk1"/>
                </a:solidFill>
              </a:rPr>
              <a:t>PII Pipeline:</a:t>
            </a:r>
            <a:r>
              <a:rPr lang="en-IN" sz="1500">
                <a:solidFill>
                  <a:schemeClr val="dk1"/>
                </a:solidFill>
              </a:rPr>
              <a:t> Regex + spaCy NER redaction </a:t>
            </a:r>
            <a:r>
              <a:rPr i="1" lang="en-IN" sz="1500">
                <a:solidFill>
                  <a:schemeClr val="dk1"/>
                </a:solidFill>
              </a:rPr>
              <a:t>before</a:t>
            </a:r>
            <a:r>
              <a:rPr lang="en-IN" sz="1500">
                <a:solidFill>
                  <a:schemeClr val="dk1"/>
                </a:solidFill>
              </a:rPr>
              <a:t> LLM is non-standard. Most apps ignore PII or redact </a:t>
            </a:r>
            <a:r>
              <a:rPr i="1" lang="en-IN" sz="1500">
                <a:solidFill>
                  <a:schemeClr val="dk1"/>
                </a:solidFill>
              </a:rPr>
              <a:t>after</a:t>
            </a:r>
            <a:r>
              <a:rPr lang="en-IN" sz="1500">
                <a:solidFill>
                  <a:schemeClr val="dk1"/>
                </a:solidFill>
              </a:rPr>
              <a:t> processing = privacy gap.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IN" sz="1500">
                <a:solidFill>
                  <a:schemeClr val="dk1"/>
                </a:solidFill>
              </a:rPr>
              <a:t>Edge Only Model</a:t>
            </a:r>
            <a:r>
              <a:rPr lang="en-IN" sz="1500">
                <a:solidFill>
                  <a:schemeClr val="dk1"/>
                </a:solidFill>
              </a:rPr>
              <a:t> : No intervention of cloud based compute all that happens is within your phone only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p23"/>
          <p:cNvCxnSpPr/>
          <p:nvPr/>
        </p:nvCxnSpPr>
        <p:spPr>
          <a:xfrm>
            <a:off x="8138025" y="1286700"/>
            <a:ext cx="33300" cy="479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4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4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4"/>
          <p:cNvSpPr/>
          <p:nvPr/>
        </p:nvSpPr>
        <p:spPr>
          <a:xfrm>
            <a:off x="609600" y="670555"/>
            <a:ext cx="10285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 Link</a:t>
            </a:r>
            <a:endParaRPr sz="4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4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4"/>
          <p:cNvSpPr txBox="1"/>
          <p:nvPr/>
        </p:nvSpPr>
        <p:spPr>
          <a:xfrm>
            <a:off x="489829" y="1226675"/>
            <a:ext cx="10972800" cy="5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500">
                <a:solidFill>
                  <a:schemeClr val="dk1"/>
                </a:solidFill>
              </a:rPr>
              <a:t>GitHub Repo : </a:t>
            </a:r>
            <a:r>
              <a:rPr b="1" lang="en-IN" sz="1500" u="sng">
                <a:solidFill>
                  <a:schemeClr val="hlink"/>
                </a:solidFill>
                <a:hlinkClick r:id="rId3"/>
              </a:rPr>
              <a:t>ClawSight-Githttps://github.com/mvamarnath/ClawSight</a:t>
            </a:r>
            <a:br>
              <a:rPr lang="en-I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500">
                <a:solidFill>
                  <a:schemeClr val="dk1"/>
                </a:solidFill>
              </a:rPr>
              <a:t>Live Demos:</a:t>
            </a:r>
            <a:endParaRPr b="1" sz="15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IN">
                <a:solidFill>
                  <a:schemeClr val="dk1"/>
                </a:solidFill>
              </a:rPr>
              <a:t>Code &amp; Architecture Walkthrough:</a:t>
            </a:r>
            <a:r>
              <a:rPr lang="en-I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u="sng">
                <a:solidFill>
                  <a:schemeClr val="hlink"/>
                </a:solidFill>
                <a:hlinkClick r:id="rId5"/>
              </a:rPr>
              <a:t>https://youtu.be/sRuWfjbZil0</a:t>
            </a:r>
            <a:endParaRPr u="sng">
              <a:solidFill>
                <a:schemeClr val="hlink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IN">
                <a:solidFill>
                  <a:schemeClr val="dk1"/>
                </a:solidFill>
              </a:rPr>
              <a:t>Detailed technical walkthrough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IN">
                <a:solidFill>
                  <a:schemeClr val="dk1"/>
                </a:solidFill>
              </a:rPr>
              <a:t>Python notebook (prototype) + Android app architecture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IN">
                <a:solidFill>
                  <a:schemeClr val="dk1"/>
                </a:solidFill>
              </a:rPr>
              <a:t>Explanation of each pipeline layer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IN">
                <a:solidFill>
                  <a:schemeClr val="dk1"/>
                </a:solidFill>
              </a:rPr>
              <a:t>Phone Demo (Full Walkthrough):</a:t>
            </a:r>
            <a:r>
              <a:rPr lang="en-IN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u="sng">
                <a:solidFill>
                  <a:schemeClr val="hlink"/>
                </a:solidFill>
                <a:hlinkClick r:id="rId7"/>
              </a:rPr>
              <a:t>https://youtu.be/XV4S2kmJbzM</a:t>
            </a:r>
            <a:endParaRPr u="sng">
              <a:solidFill>
                <a:schemeClr val="hlink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IN">
                <a:solidFill>
                  <a:schemeClr val="dk1"/>
                </a:solidFill>
              </a:rPr>
              <a:t>End-to-end app running on device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IN">
                <a:solidFill>
                  <a:schemeClr val="dk1"/>
                </a:solidFill>
              </a:rPr>
              <a:t>Background listening, OCR, auto-actions visible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IN">
                <a:solidFill>
                  <a:schemeClr val="dk1"/>
                </a:solidFill>
              </a:rPr>
              <a:t>Chat Interface in Action:</a:t>
            </a:r>
            <a:r>
              <a:rPr lang="en-IN">
                <a:solidFill>
                  <a:schemeClr val="dk1"/>
                </a:solidFill>
                <a:uFill>
                  <a:noFill/>
                </a:u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u="sng">
                <a:solidFill>
                  <a:schemeClr val="hlink"/>
                </a:solidFill>
                <a:hlinkClick r:id="rId9"/>
              </a:rPr>
              <a:t>https://youtube.com/shorts/rcv310nauWU</a:t>
            </a:r>
            <a:endParaRPr u="sng">
              <a:solidFill>
                <a:schemeClr val="hlink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IN">
                <a:solidFill>
                  <a:schemeClr val="dk1"/>
                </a:solidFill>
              </a:rPr>
              <a:t>Image → pipeline  → chat with bot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IN">
                <a:solidFill>
                  <a:schemeClr val="dk1"/>
                </a:solidFill>
              </a:rPr>
              <a:t>Queries and follow ups based on the context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IN" sz="1500">
                <a:solidFill>
                  <a:schemeClr val="dk1"/>
                </a:solidFill>
              </a:rPr>
              <a:t>Documentation Submitted in Git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</a:rPr>
              <a:t>Overall code base [Python + App dev code]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>
                <a:solidFill>
                  <a:schemeClr val="dk1"/>
                </a:solidFill>
              </a:rPr>
              <a:t>Presentation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>
                <a:solidFill>
                  <a:schemeClr val="dk1"/>
                </a:solidFill>
              </a:rPr>
              <a:t>AI Usage disclosure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>
                <a:solidFill>
                  <a:schemeClr val="dk1"/>
                </a:solidFill>
              </a:rPr>
              <a:t>Demonstration video with entire code base walkthrough and test cases with app.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5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5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5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5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&lt;Brownie Slide&gt;</a:t>
            </a:r>
            <a:endParaRPr sz="4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5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5"/>
          <p:cNvSpPr txBox="1"/>
          <p:nvPr/>
        </p:nvSpPr>
        <p:spPr>
          <a:xfrm>
            <a:off x="740496" y="1682945"/>
            <a:ext cx="5570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 most practical  EDGE Assistant  !</a:t>
            </a:r>
            <a:endParaRPr b="1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